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3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36" y="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8977523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eeexplore.ieee.org/document/10047045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xagon.com/" TargetMode="External"/><Relationship Id="rId11" Type="http://schemas.openxmlformats.org/officeDocument/2006/relationships/hyperlink" Target="https://sih-2026-drab.vercel.app/" TargetMode="External"/><Relationship Id="rId5" Type="http://schemas.openxmlformats.org/officeDocument/2006/relationships/hyperlink" Target="https://idsgeoradar.com/" TargetMode="External"/><Relationship Id="rId10" Type="http://schemas.openxmlformats.org/officeDocument/2006/relationships/hyperlink" Target="https://www.nature.com/articles/s41598-023-38896-y?utm_source=chatgpt.com" TargetMode="External"/><Relationship Id="rId4" Type="http://schemas.openxmlformats.org/officeDocument/2006/relationships/hyperlink" Target="https://www.groundprobe.com/" TargetMode="External"/><Relationship Id="rId9" Type="http://schemas.openxmlformats.org/officeDocument/2006/relationships/hyperlink" Target="https://www.nature.com/articles/s41598-020-66904-y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79794" y="945132"/>
            <a:ext cx="8534400" cy="901079"/>
          </a:xfrm>
        </p:spPr>
        <p:txBody>
          <a:bodyPr/>
          <a:lstStyle/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AlertX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9150" y="1078359"/>
            <a:ext cx="5924550" cy="548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1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AI-Based Rockfall Prediction and Alert System for Open-Pit Mines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Disaster Management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AlertX</a:t>
            </a:r>
            <a:endParaRPr lang="en-IN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41A135-ECF7-1A6A-611C-2D6531F1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302" y="55296"/>
            <a:ext cx="2136779" cy="11028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472265" y="506877"/>
            <a:ext cx="32460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0408" y="9294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AlertX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28E74-2730-BA1E-6175-1FB47D09608B}"/>
              </a:ext>
            </a:extLst>
          </p:cNvPr>
          <p:cNvSpPr txBox="1"/>
          <p:nvPr/>
        </p:nvSpPr>
        <p:spPr>
          <a:xfrm>
            <a:off x="69635" y="1266556"/>
            <a:ext cx="589710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Multi-Modal Data Ingestion Engine: </a:t>
            </a:r>
            <a:r>
              <a:rPr lang="en-IN" sz="1400" dirty="0"/>
              <a:t>Aggregates satellite radar (Sentinel-1 InSAR for </a:t>
            </a:r>
            <a:r>
              <a:rPr lang="en-IN" sz="1400" dirty="0" err="1"/>
              <a:t>millimeter</a:t>
            </a:r>
            <a:r>
              <a:rPr lang="en-IN" sz="1400" dirty="0"/>
              <a:t>-level ground displacement), public meteorological APIs (precipitation, temperature, storm forecasts), and geotechnical mine topography data via </a:t>
            </a:r>
            <a:r>
              <a:rPr lang="en-IN" sz="1400" b="1" dirty="0"/>
              <a:t>REST</a:t>
            </a:r>
            <a:r>
              <a:rPr lang="en-IN" sz="1400" dirty="0"/>
              <a:t> &amp; </a:t>
            </a:r>
            <a:r>
              <a:rPr lang="en-IN" sz="1400" b="1" dirty="0" err="1"/>
              <a:t>WebSockets</a:t>
            </a:r>
            <a:r>
              <a:rPr lang="en-IN" sz="1400" b="1" dirty="0"/>
              <a:t>.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Hybrid AI/ML Predictive Analytics Core: </a:t>
            </a:r>
            <a:r>
              <a:rPr lang="en-IN" sz="1400" dirty="0"/>
              <a:t>Employs </a:t>
            </a:r>
            <a:r>
              <a:rPr lang="en-IN" sz="1400" b="1" dirty="0"/>
              <a:t>Bi-LSTM</a:t>
            </a:r>
            <a:r>
              <a:rPr lang="en-IN" sz="1400" dirty="0"/>
              <a:t> neural networks for time-series slope movement forecasting alongside </a:t>
            </a:r>
            <a:r>
              <a:rPr lang="en-IN" sz="1400" b="1" dirty="0" err="1"/>
              <a:t>XGBoost</a:t>
            </a:r>
            <a:r>
              <a:rPr lang="en-IN" sz="1400" dirty="0"/>
              <a:t> for dynamic Factor of Safety (</a:t>
            </a:r>
            <a:r>
              <a:rPr lang="en-IN" sz="1400" dirty="0" err="1"/>
              <a:t>FoS</a:t>
            </a:r>
            <a:r>
              <a:rPr lang="en-IN" sz="1400" dirty="0"/>
              <a:t>) and Rockfall Hazard Index (RHI) scoring.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Computer Vision Surface Crack Detector: </a:t>
            </a:r>
            <a:r>
              <a:rPr lang="en-IN" sz="1400" dirty="0" err="1"/>
              <a:t>Analyzes</a:t>
            </a:r>
            <a:r>
              <a:rPr lang="en-IN" sz="1400" dirty="0"/>
              <a:t> mine drone surveys and optical CCTV streams using </a:t>
            </a:r>
            <a:r>
              <a:rPr lang="en-IN" sz="1400" b="1" dirty="0"/>
              <a:t>YOLOv8</a:t>
            </a:r>
            <a:r>
              <a:rPr lang="en-IN" sz="1400" dirty="0"/>
              <a:t> to identify fresh rock fractures, tensile fissures, and surface spalling before major collapses occur.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Interactive 3D Geospatial Digital Twin: </a:t>
            </a:r>
            <a:r>
              <a:rPr lang="en-IN" sz="1400" dirty="0"/>
              <a:t>Renders the open-pit benches in real-time with color-coded safety heatmaps (Green = Stable, Yellow = Watch, Red = Danger Zone) powered by </a:t>
            </a:r>
            <a:r>
              <a:rPr lang="en-IN" sz="1400" b="1" dirty="0"/>
              <a:t>Three.js/</a:t>
            </a:r>
            <a:r>
              <a:rPr lang="en-IN" sz="1400" b="1" dirty="0" err="1"/>
              <a:t>MapLibre</a:t>
            </a:r>
            <a:r>
              <a:rPr lang="en-IN" sz="1400" dirty="0"/>
              <a:t>.</a:t>
            </a:r>
          </a:p>
          <a:p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Automated Decision Support &amp; Alert Dispatcher (DSS): </a:t>
            </a:r>
            <a:r>
              <a:rPr lang="en-IN" sz="1400" dirty="0"/>
              <a:t>Triggers sub-second multi-channel alerts (SMS, WhatsApp, sirens, browser push) and recommends operational actions (e.g., haul truck rerouting, bench evacuation).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119A76-45EE-A865-9670-0CA6FDFC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57" y="19186"/>
            <a:ext cx="1503135" cy="775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52732-4B40-2EB6-354B-9F3A24BA9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718983"/>
            <a:ext cx="5288281" cy="5414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5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80733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0554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9461" y="11458"/>
            <a:ext cx="1334435" cy="53382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AlertX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FAC581-1DFA-4B40-2C4C-2F7326420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339" y="20602"/>
            <a:ext cx="1510183" cy="6725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B33481-A511-A96A-14D6-31EEAC95AD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8"/>
          <a:stretch>
            <a:fillRect/>
          </a:stretch>
        </p:blipFill>
        <p:spPr>
          <a:xfrm>
            <a:off x="6478" y="604366"/>
            <a:ext cx="12185522" cy="5875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3859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7581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48379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493999" y="654837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8767" y="19186"/>
            <a:ext cx="1263689" cy="62089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 err="1"/>
              <a:t>AlertX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44255-49EA-65F4-C2C7-3F060C4AF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1" y="19186"/>
            <a:ext cx="1760792" cy="7758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9B7F6A-7739-EB86-1669-03A3F9743378}"/>
              </a:ext>
            </a:extLst>
          </p:cNvPr>
          <p:cNvSpPr txBox="1"/>
          <p:nvPr/>
        </p:nvSpPr>
        <p:spPr>
          <a:xfrm>
            <a:off x="243918" y="2967050"/>
            <a:ext cx="5997233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💰 Viability &amp; Business Potential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B2B SaaS:</a:t>
            </a:r>
            <a:r>
              <a:rPr lang="en-IN" dirty="0"/>
              <a:t> Tiered subscriptions based on pits &amp; data frequency.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Large Market:</a:t>
            </a:r>
            <a:r>
              <a:rPr lang="en-IN" dirty="0"/>
              <a:t> Scalable across global open-pit mines.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Cost Savings:</a:t>
            </a:r>
            <a:r>
              <a:rPr lang="en-IN" dirty="0"/>
              <a:t> Reduces equipment damage &amp; downtime.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Compliance:</a:t>
            </a:r>
            <a:r>
              <a:rPr lang="en-IN" dirty="0"/>
              <a:t> Digital audit trails simplify safety inspections.</a:t>
            </a:r>
          </a:p>
          <a:p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1548B-BD04-D987-7C95-4A51CA60A021}"/>
              </a:ext>
            </a:extLst>
          </p:cNvPr>
          <p:cNvSpPr txBox="1"/>
          <p:nvPr/>
        </p:nvSpPr>
        <p:spPr>
          <a:xfrm>
            <a:off x="6487304" y="2721114"/>
            <a:ext cx="570469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👨‍💻 Use Cases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Safety Officers:</a:t>
            </a:r>
            <a:r>
              <a:rPr lang="en-IN" dirty="0"/>
              <a:t> Monitor cracks &amp; risk zones in 3D.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Shift In-Charge:</a:t>
            </a:r>
            <a:r>
              <a:rPr lang="en-IN" dirty="0"/>
              <a:t> Reroute trucks from high-risk areas.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Pit Workers:</a:t>
            </a:r>
            <a:r>
              <a:rPr lang="en-IN" dirty="0"/>
              <a:t> Get instant alerts before collapses.</a:t>
            </a:r>
          </a:p>
          <a:p>
            <a:pPr>
              <a:buNone/>
            </a:pP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2259EE-1051-F713-4EF3-71969C26F888}"/>
              </a:ext>
            </a:extLst>
          </p:cNvPr>
          <p:cNvSpPr txBox="1"/>
          <p:nvPr/>
        </p:nvSpPr>
        <p:spPr>
          <a:xfrm>
            <a:off x="146675" y="5163238"/>
            <a:ext cx="6094476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b="1" dirty="0"/>
              <a:t>🚧 Challenges</a:t>
            </a:r>
            <a:endParaRPr lang="en-IN" sz="165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b="1" dirty="0"/>
              <a:t>Connectivity:</a:t>
            </a:r>
            <a:r>
              <a:rPr lang="en-IN" sz="1650" dirty="0"/>
              <a:t> Poor network coverage in remote mine areas.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b="1" dirty="0"/>
              <a:t>False Alarms:</a:t>
            </a:r>
            <a:r>
              <a:rPr lang="en-IN" sz="1650" dirty="0"/>
              <a:t> Blasting vibrations may trigger unnecessary alerts.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50" b="1" dirty="0"/>
              <a:t>Data Integration:</a:t>
            </a:r>
            <a:r>
              <a:rPr lang="en-IN" sz="1650" dirty="0"/>
              <a:t> Legacy sensor data may be difficult to integrate.</a:t>
            </a:r>
          </a:p>
          <a:p>
            <a:pPr>
              <a:buNone/>
            </a:pPr>
            <a:endParaRPr lang="en-IN" sz="165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65BCFCD-2C9A-571A-3542-906AE30E7FED}"/>
              </a:ext>
            </a:extLst>
          </p:cNvPr>
          <p:cNvSpPr/>
          <p:nvPr/>
        </p:nvSpPr>
        <p:spPr>
          <a:xfrm>
            <a:off x="98767" y="706891"/>
            <a:ext cx="6093763" cy="1999733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723AE8-3F73-F958-3B2A-964BD549378A}"/>
              </a:ext>
            </a:extLst>
          </p:cNvPr>
          <p:cNvSpPr/>
          <p:nvPr/>
        </p:nvSpPr>
        <p:spPr>
          <a:xfrm>
            <a:off x="98767" y="2826810"/>
            <a:ext cx="6093763" cy="2083356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F542CE-B15F-1588-C3AD-A0DC91619460}"/>
              </a:ext>
            </a:extLst>
          </p:cNvPr>
          <p:cNvSpPr/>
          <p:nvPr/>
        </p:nvSpPr>
        <p:spPr>
          <a:xfrm>
            <a:off x="98767" y="5005779"/>
            <a:ext cx="6093763" cy="1505922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60224F-D983-3AE3-6F65-EF2B41C7ABDE}"/>
              </a:ext>
            </a:extLst>
          </p:cNvPr>
          <p:cNvSpPr/>
          <p:nvPr/>
        </p:nvSpPr>
        <p:spPr>
          <a:xfrm>
            <a:off x="6292007" y="785357"/>
            <a:ext cx="5679585" cy="1638071"/>
          </a:xfrm>
          <a:prstGeom prst="round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Diagonal Corners Snipped 24">
                <a:extLst>
                  <a:ext uri="{FF2B5EF4-FFF2-40B4-BE49-F238E27FC236}">
                    <a16:creationId xmlns:a16="http://schemas.microsoft.com/office/drawing/2014/main" id="{2CFD7809-6A7A-D478-B238-1729FCF95D99}"/>
                  </a:ext>
                </a:extLst>
              </p:cNvPr>
              <p:cNvSpPr/>
              <p:nvPr/>
            </p:nvSpPr>
            <p:spPr>
              <a:xfrm>
                <a:off x="6386303" y="4403413"/>
                <a:ext cx="5585289" cy="2006853"/>
              </a:xfrm>
              <a:prstGeom prst="snip2DiagRect">
                <a:avLst/>
              </a:prstGeom>
              <a:solidFill>
                <a:schemeClr val="accent5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 b="1" dirty="0"/>
                  <a:t>⭐ </a:t>
                </a:r>
                <a:r>
                  <a:rPr lang="en-IN" b="1" dirty="0">
                    <a:solidFill>
                      <a:schemeClr val="tx1"/>
                    </a:solidFill>
                  </a:rPr>
                  <a:t>Supporting Facts for Feasibility and Viability ⭐</a:t>
                </a:r>
                <a:endParaRPr lang="en-IN" dirty="0">
                  <a:solidFill>
                    <a:schemeClr val="tx1"/>
                  </a:solidFill>
                  <a:effectLst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effectLst/>
                  </a:rPr>
                  <a:t>The Directorate General of Mines Safety (DGMS) mandates systematic slope monitoring for all opencast mines &gt;100m deep.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sz="20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600" dirty="0">
                    <a:solidFill>
                      <a:schemeClr val="tx1"/>
                    </a:solidFill>
                    <a:effectLst/>
                  </a:rPr>
                  <a:t>Proactive AI monitoring prevents fatal accidents and drastically reduces expensive operational downtime.</a:t>
                </a:r>
              </a:p>
            </p:txBody>
          </p:sp>
        </mc:Choice>
        <mc:Fallback xmlns="">
          <p:sp>
            <p:nvSpPr>
              <p:cNvPr id="25" name="Rectangle: Diagonal Corners Snipped 24">
                <a:extLst>
                  <a:ext uri="{FF2B5EF4-FFF2-40B4-BE49-F238E27FC236}">
                    <a16:creationId xmlns:a16="http://schemas.microsoft.com/office/drawing/2014/main" id="{2CFD7809-6A7A-D478-B238-1729FCF95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303" y="4403413"/>
                <a:ext cx="5585289" cy="2006853"/>
              </a:xfrm>
              <a:prstGeom prst="snip2Diag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9B24F57-90B2-2B14-716F-815C951CA3DF}"/>
              </a:ext>
            </a:extLst>
          </p:cNvPr>
          <p:cNvSpPr/>
          <p:nvPr/>
        </p:nvSpPr>
        <p:spPr>
          <a:xfrm>
            <a:off x="6292007" y="2594386"/>
            <a:ext cx="5679585" cy="1638070"/>
          </a:xfrm>
          <a:prstGeom prst="roundRect">
            <a:avLst/>
          </a:prstGeom>
          <a:noFill/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03DBE-8CAB-E96C-8180-A943FF3AF3F1}"/>
              </a:ext>
            </a:extLst>
          </p:cNvPr>
          <p:cNvSpPr txBox="1"/>
          <p:nvPr/>
        </p:nvSpPr>
        <p:spPr>
          <a:xfrm>
            <a:off x="170896" y="73569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⚖️ Feasibility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Technical:</a:t>
            </a:r>
            <a:r>
              <a:rPr lang="en-IN" dirty="0"/>
              <a:t> no custom hardware.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Modular:</a:t>
            </a:r>
            <a:r>
              <a:rPr lang="en-IN" dirty="0"/>
              <a:t> Microservices allow independent AI, dashboard &amp; alert modules.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Market:</a:t>
            </a:r>
            <a:r>
              <a:rPr lang="en-IN" dirty="0"/>
              <a:t> Strong demand due to DGMS safety requirements.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Economic:</a:t>
            </a:r>
            <a:r>
              <a:rPr lang="en-IN" dirty="0"/>
              <a:t> Low-cost using existing mine cameras + free satellite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56062-A51E-C228-6249-04CB7980DFFF}"/>
              </a:ext>
            </a:extLst>
          </p:cNvPr>
          <p:cNvSpPr txBox="1"/>
          <p:nvPr/>
        </p:nvSpPr>
        <p:spPr>
          <a:xfrm>
            <a:off x="6339025" y="945665"/>
            <a:ext cx="60960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700" b="1" dirty="0"/>
              <a:t>🛡️ Solutions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Edge Processing:</a:t>
            </a:r>
            <a:r>
              <a:rPr lang="en-IN" sz="1700" dirty="0"/>
              <a:t> Local networks + offline caching.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Vibration Filtering:</a:t>
            </a:r>
            <a:r>
              <a:rPr lang="en-IN" sz="1700" dirty="0"/>
              <a:t> AI detects and ignores blast vibrations.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API Wrappers:</a:t>
            </a:r>
            <a:r>
              <a:rPr lang="en-IN" sz="1700" dirty="0"/>
              <a:t> Convert legacy sensor data for easy </a:t>
            </a:r>
          </a:p>
          <a:p>
            <a:pPr lvl="0"/>
            <a:r>
              <a:rPr lang="en-IN" sz="1700" dirty="0"/>
              <a:t>       integration.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33600" y="-1942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5989" y="337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 err="1"/>
              <a:t>AlertX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A9DB5-2B1F-119F-8403-2001873C5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57" y="19186"/>
            <a:ext cx="1503135" cy="7758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6F8E03-2BD1-1C25-0966-BA3E5C261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3252"/>
            <a:ext cx="6120000" cy="26095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32644F-5B71-1DE0-5E6B-16AE10DDA198}"/>
              </a:ext>
            </a:extLst>
          </p:cNvPr>
          <p:cNvSpPr txBox="1"/>
          <p:nvPr/>
        </p:nvSpPr>
        <p:spPr>
          <a:xfrm>
            <a:off x="455067" y="2882220"/>
            <a:ext cx="5006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🦺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6753D-568F-557C-7345-2D2C2EE33B5E}"/>
              </a:ext>
            </a:extLst>
          </p:cNvPr>
          <p:cNvSpPr txBox="1"/>
          <p:nvPr/>
        </p:nvSpPr>
        <p:spPr>
          <a:xfrm>
            <a:off x="2032254" y="2820665"/>
            <a:ext cx="409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D7ED43-6DC7-5C0D-0700-EB2C0DF2F603}"/>
              </a:ext>
            </a:extLst>
          </p:cNvPr>
          <p:cNvSpPr txBox="1"/>
          <p:nvPr/>
        </p:nvSpPr>
        <p:spPr>
          <a:xfrm>
            <a:off x="3451519" y="2882382"/>
            <a:ext cx="470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⚙️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685124-F0BC-D7CD-FE18-B043E7806D4C}"/>
              </a:ext>
            </a:extLst>
          </p:cNvPr>
          <p:cNvSpPr txBox="1"/>
          <p:nvPr/>
        </p:nvSpPr>
        <p:spPr>
          <a:xfrm>
            <a:off x="5113782" y="2837786"/>
            <a:ext cx="308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🌍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0DA2A-09D1-4A4F-0B3D-A533A83C521D}"/>
              </a:ext>
            </a:extLst>
          </p:cNvPr>
          <p:cNvSpPr txBox="1"/>
          <p:nvPr/>
        </p:nvSpPr>
        <p:spPr>
          <a:xfrm>
            <a:off x="314538" y="4005028"/>
            <a:ext cx="5884266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Boosted Production:</a:t>
            </a:r>
            <a:r>
              <a:rPr lang="en-IN" sz="1700" dirty="0"/>
              <a:t> AI monitoring can cut downtime by </a:t>
            </a:r>
            <a:r>
              <a:rPr lang="en-IN" sz="1700" b="1" dirty="0"/>
              <a:t>30%+</a:t>
            </a:r>
            <a:r>
              <a:rPr lang="en-IN" sz="17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Fatality Prevention:</a:t>
            </a:r>
            <a:r>
              <a:rPr lang="en-IN" sz="1700" dirty="0"/>
              <a:t> Early warnings aim to reduce slope-related fatalities to </a:t>
            </a:r>
            <a:r>
              <a:rPr lang="en-IN" sz="1700" b="1" dirty="0"/>
              <a:t>zero</a:t>
            </a:r>
            <a:r>
              <a:rPr lang="en-IN" sz="17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Cost Optimization:</a:t>
            </a:r>
            <a:r>
              <a:rPr lang="en-IN" sz="1700" dirty="0"/>
              <a:t> Optimized slopes can reduce waste stripping costs by </a:t>
            </a:r>
            <a:r>
              <a:rPr lang="en-IN" sz="1700" b="1" dirty="0"/>
              <a:t>10–20%</a:t>
            </a:r>
            <a:r>
              <a:rPr lang="en-IN" sz="17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Asset Protection:</a:t>
            </a:r>
            <a:r>
              <a:rPr lang="en-IN" sz="1700" dirty="0"/>
              <a:t> Prevents equipment damage, saving </a:t>
            </a:r>
            <a:r>
              <a:rPr lang="en-IN" sz="1700" b="1" dirty="0"/>
              <a:t>millions per haul truck</a:t>
            </a:r>
            <a:endParaRPr lang="en-IN" sz="1700" dirty="0"/>
          </a:p>
          <a:p>
            <a:pPr lvl="0"/>
            <a:endParaRPr lang="en-IN" sz="1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8F61E0-EA16-789B-CB24-EFF02948965B}"/>
              </a:ext>
            </a:extLst>
          </p:cNvPr>
          <p:cNvSpPr txBox="1"/>
          <p:nvPr/>
        </p:nvSpPr>
        <p:spPr>
          <a:xfrm>
            <a:off x="6369884" y="1313525"/>
            <a:ext cx="5830225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🛡️ Safety &amp; Social</a:t>
            </a:r>
          </a:p>
          <a:p>
            <a:pPr lvl="0"/>
            <a:r>
              <a:rPr lang="en-IN" sz="1600" b="1" dirty="0"/>
              <a:t>Zero-Fatality:</a:t>
            </a:r>
            <a:r>
              <a:rPr lang="en-IN" sz="1600" dirty="0"/>
              <a:t> Early warnings enable timely evacuation. </a:t>
            </a:r>
          </a:p>
          <a:p>
            <a:pPr lvl="0"/>
            <a:r>
              <a:rPr lang="en-IN" sz="1600" b="1" dirty="0"/>
              <a:t>Worker Confidence:</a:t>
            </a:r>
            <a:r>
              <a:rPr lang="en-IN" sz="1600" dirty="0"/>
              <a:t> 24/7 monitoring ensures a safer workplace. </a:t>
            </a:r>
          </a:p>
          <a:p>
            <a:endParaRPr lang="en-IN" sz="1600" b="1" dirty="0"/>
          </a:p>
          <a:p>
            <a:r>
              <a:rPr lang="en-IN" sz="1600" b="1" dirty="0"/>
              <a:t>💰 Economic</a:t>
            </a:r>
          </a:p>
          <a:p>
            <a:pPr lvl="0"/>
            <a:r>
              <a:rPr lang="en-IN" sz="1600" b="1" dirty="0"/>
              <a:t>Cost Savings:</a:t>
            </a:r>
            <a:r>
              <a:rPr lang="en-IN" sz="1600" dirty="0"/>
              <a:t> Prevents costly landslide response, cleanup &amp; downtime. </a:t>
            </a:r>
          </a:p>
          <a:p>
            <a:pPr lvl="0"/>
            <a:r>
              <a:rPr lang="en-IN" sz="1600" b="1" dirty="0"/>
              <a:t>Lower Insurance:</a:t>
            </a:r>
            <a:r>
              <a:rPr lang="en-IN" sz="1600" dirty="0"/>
              <a:t> Automated compliance may reduce insurance premiums. </a:t>
            </a:r>
          </a:p>
          <a:p>
            <a:endParaRPr lang="en-IN" sz="1600" b="1" dirty="0"/>
          </a:p>
          <a:p>
            <a:r>
              <a:rPr lang="en-IN" sz="1600" b="1" dirty="0"/>
              <a:t>⚙️ Operational &amp; Technological</a:t>
            </a:r>
          </a:p>
          <a:p>
            <a:pPr lvl="0"/>
            <a:r>
              <a:rPr lang="en-IN" sz="1600" b="1" dirty="0"/>
              <a:t>24/7 All-Weather:</a:t>
            </a:r>
            <a:r>
              <a:rPr lang="en-IN" sz="1600" dirty="0"/>
              <a:t> Radar &amp; satellite monitoring works through rain and fog. </a:t>
            </a:r>
          </a:p>
          <a:p>
            <a:pPr lvl="0"/>
            <a:r>
              <a:rPr lang="en-IN" sz="1600" b="1" dirty="0"/>
              <a:t>Digital Transformation:</a:t>
            </a:r>
            <a:r>
              <a:rPr lang="en-IN" sz="1600" dirty="0"/>
              <a:t> Brings AI, IoT &amp; remote sensing to mining. </a:t>
            </a:r>
          </a:p>
          <a:p>
            <a:endParaRPr lang="en-IN" sz="1600" b="1" dirty="0"/>
          </a:p>
          <a:p>
            <a:r>
              <a:rPr lang="en-IN" sz="1600" b="1" dirty="0"/>
              <a:t>🌱 Environmental</a:t>
            </a:r>
          </a:p>
          <a:p>
            <a:pPr lvl="0"/>
            <a:r>
              <a:rPr lang="en-IN" sz="1600" b="1" dirty="0"/>
              <a:t>Ecosystem Protection:</a:t>
            </a:r>
            <a:r>
              <a:rPr lang="en-IN" sz="1600" dirty="0"/>
              <a:t> Prevents slope failures and habitat damage. </a:t>
            </a:r>
          </a:p>
          <a:p>
            <a:pPr lvl="0"/>
            <a:r>
              <a:rPr lang="en-IN" sz="1600" b="1" dirty="0"/>
              <a:t>Lower Carbon Footprint:</a:t>
            </a:r>
            <a:r>
              <a:rPr lang="en-IN" sz="1600" dirty="0"/>
              <a:t> Optimized slopes reduce waste hauling &amp; diesel emissions.</a:t>
            </a:r>
          </a:p>
          <a:p>
            <a:pPr lvl="0"/>
            <a:endParaRPr lang="en-IN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138DD-779F-0F11-D43F-CCA9D9DBFFB6}"/>
              </a:ext>
            </a:extLst>
          </p:cNvPr>
          <p:cNvSpPr txBox="1"/>
          <p:nvPr/>
        </p:nvSpPr>
        <p:spPr>
          <a:xfrm>
            <a:off x="6203863" y="84948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>
                <a:solidFill>
                  <a:schemeClr val="tx2"/>
                </a:solidFill>
              </a:rPr>
              <a:t>Benefits of the solution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504568-A0EF-E644-5741-1E9CDD68DA24}"/>
              </a:ext>
            </a:extLst>
          </p:cNvPr>
          <p:cNvSpPr/>
          <p:nvPr/>
        </p:nvSpPr>
        <p:spPr>
          <a:xfrm>
            <a:off x="6335989" y="1249594"/>
            <a:ext cx="5752379" cy="4951447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A68B16-F28B-E1C8-FBAD-E3488C312909}"/>
              </a:ext>
            </a:extLst>
          </p:cNvPr>
          <p:cNvSpPr txBox="1"/>
          <p:nvPr/>
        </p:nvSpPr>
        <p:spPr>
          <a:xfrm>
            <a:off x="143215" y="3353254"/>
            <a:ext cx="6149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b="1" u="sng" dirty="0">
                <a:solidFill>
                  <a:schemeClr val="tx2"/>
                </a:solidFill>
              </a:rPr>
              <a:t>Potential impact on the target audience:</a:t>
            </a:r>
            <a:endParaRPr lang="en-IN" sz="2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2991F4-2CC9-2C74-9689-EA58105CAADD}"/>
              </a:ext>
            </a:extLst>
          </p:cNvPr>
          <p:cNvSpPr/>
          <p:nvPr/>
        </p:nvSpPr>
        <p:spPr>
          <a:xfrm>
            <a:off x="164800" y="3952619"/>
            <a:ext cx="5978133" cy="2248422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83921" y="-12775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45855"/>
            <a:ext cx="1142411" cy="69051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 err="1"/>
              <a:t>AlertX</a:t>
            </a:r>
            <a:endParaRPr lang="en-IN" sz="1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9D473C-599D-0680-1F77-1C97D3E6B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57" y="19186"/>
            <a:ext cx="1503135" cy="7758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475A6D-137A-9E88-C299-502AC6D89BF4}"/>
              </a:ext>
            </a:extLst>
          </p:cNvPr>
          <p:cNvSpPr txBox="1"/>
          <p:nvPr/>
        </p:nvSpPr>
        <p:spPr>
          <a:xfrm>
            <a:off x="329773" y="1111261"/>
            <a:ext cx="521893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700" b="1" dirty="0"/>
              <a:t>Industry Platforms: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➤ </a:t>
            </a:r>
            <a:r>
              <a:rPr lang="en-IN" sz="1700" dirty="0" err="1"/>
              <a:t>GroundProbe</a:t>
            </a:r>
            <a:r>
              <a:rPr lang="en-IN" sz="1700" dirty="0"/>
              <a:t>: </a:t>
            </a:r>
            <a:r>
              <a:rPr lang="en-IN" sz="1700" dirty="0">
                <a:hlinkClick r:id="rId4"/>
              </a:rPr>
              <a:t>https://www.groundprobe.com/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➤ IDS </a:t>
            </a:r>
            <a:r>
              <a:rPr lang="en-IN" sz="1700" dirty="0" err="1"/>
              <a:t>GeoRadar</a:t>
            </a:r>
            <a:r>
              <a:rPr lang="en-IN" sz="1700" dirty="0"/>
              <a:t>: </a:t>
            </a:r>
            <a:r>
              <a:rPr lang="en-IN" sz="1700" dirty="0">
                <a:hlinkClick r:id="rId5"/>
              </a:rPr>
              <a:t>https://idsgeoradar.com/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➤ Hexagon Mining: </a:t>
            </a:r>
            <a:r>
              <a:rPr lang="en-IN" sz="1700" dirty="0">
                <a:hlinkClick r:id="rId6"/>
              </a:rPr>
              <a:t>https://hexagon.com/</a:t>
            </a:r>
            <a:endParaRPr lang="en-IN" sz="1700" dirty="0"/>
          </a:p>
          <a:p>
            <a:pPr>
              <a:buNone/>
            </a:pPr>
            <a:endParaRPr lang="en-IN" sz="1700" b="1" dirty="0"/>
          </a:p>
          <a:p>
            <a:pPr>
              <a:buNone/>
            </a:pPr>
            <a:r>
              <a:rPr lang="en-IN" sz="1700" b="1" dirty="0"/>
              <a:t>Research &amp; Best Practices:</a:t>
            </a:r>
          </a:p>
          <a:p>
            <a:r>
              <a:rPr lang="en-IN" sz="1600" dirty="0"/>
              <a:t>➤ </a:t>
            </a:r>
            <a:r>
              <a:rPr lang="en-IN" sz="1600" b="1" dirty="0"/>
              <a:t>IEEE Xplore – Ground-Based SAR for Slope Monitoring:</a:t>
            </a:r>
            <a:r>
              <a:rPr lang="en-IN" sz="1600" dirty="0"/>
              <a:t> </a:t>
            </a:r>
            <a:r>
              <a:rPr lang="en-IN" sz="1600" dirty="0">
                <a:hlinkClick r:id="rId7"/>
              </a:rPr>
              <a:t>https://ieeexplore.ieee.org/document/10047045</a:t>
            </a:r>
            <a:endParaRPr lang="en-IN" sz="1600" dirty="0"/>
          </a:p>
          <a:p>
            <a:r>
              <a:rPr lang="en-IN" sz="1600" dirty="0"/>
              <a:t>➤ </a:t>
            </a:r>
            <a:r>
              <a:rPr lang="en-IN" sz="1600" b="1" dirty="0"/>
              <a:t>IEEE Xplore – SAR/InSAR Mining Deformation:</a:t>
            </a:r>
            <a:r>
              <a:rPr lang="en-IN" sz="1600" dirty="0"/>
              <a:t> </a:t>
            </a:r>
            <a:r>
              <a:rPr lang="en-IN" sz="1600" dirty="0">
                <a:hlinkClick r:id="rId8"/>
              </a:rPr>
              <a:t>https://ieeexplore.ieee.org/document/8977523</a:t>
            </a:r>
            <a:endParaRPr lang="en-IN" sz="1600" dirty="0"/>
          </a:p>
          <a:p>
            <a:r>
              <a:rPr lang="en-IN" sz="1600" dirty="0"/>
              <a:t>➤ </a:t>
            </a:r>
            <a:r>
              <a:rPr lang="en-IN" sz="1600" b="1" dirty="0"/>
              <a:t>Scientific Reports – ML for Slope Failure Prediction:</a:t>
            </a:r>
            <a:r>
              <a:rPr lang="en-IN" sz="1600" dirty="0"/>
              <a:t> </a:t>
            </a:r>
            <a:r>
              <a:rPr lang="en-IN" sz="1600" dirty="0">
                <a:hlinkClick r:id="rId9"/>
              </a:rPr>
              <a:t>https://www.nature.com/articles/s41598-020-66904-y</a:t>
            </a:r>
            <a:endParaRPr lang="en-IN" sz="1600" dirty="0"/>
          </a:p>
          <a:p>
            <a:r>
              <a:rPr lang="en-IN" sz="1600" dirty="0"/>
              <a:t>➤ </a:t>
            </a:r>
            <a:r>
              <a:rPr lang="en-IN" sz="1600" b="1" dirty="0"/>
              <a:t>Scientific Reports – Deep Learning for Slope Stability:</a:t>
            </a:r>
            <a:r>
              <a:rPr lang="en-IN" sz="1600" dirty="0"/>
              <a:t> </a:t>
            </a:r>
            <a:r>
              <a:rPr lang="en-IN" sz="1600" dirty="0">
                <a:hlinkClick r:id="rId10"/>
              </a:rPr>
              <a:t>https://www.nature.com/articles/s41598-023-38896-y</a:t>
            </a:r>
            <a:endParaRPr lang="en-IN" sz="1600" dirty="0"/>
          </a:p>
          <a:p>
            <a:pPr>
              <a:buNone/>
            </a:pPr>
            <a:endParaRPr lang="en-IN" sz="1700" b="1" dirty="0"/>
          </a:p>
          <a:p>
            <a:pPr>
              <a:buNone/>
            </a:pPr>
            <a:r>
              <a:rPr lang="en-IN" sz="1700" b="1" dirty="0"/>
              <a:t>Feasibility Facts:</a:t>
            </a:r>
            <a:endParaRPr lang="en-IN" sz="17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➤ MDPI Open-Pit AI Study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➤ DGMS Safety 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0BE33-F43A-0915-6F37-A650007F5F5D}"/>
              </a:ext>
            </a:extLst>
          </p:cNvPr>
          <p:cNvSpPr txBox="1"/>
          <p:nvPr/>
        </p:nvSpPr>
        <p:spPr>
          <a:xfrm>
            <a:off x="5702859" y="770156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2"/>
                </a:solidFill>
              </a:rPr>
              <a:t>❖ </a:t>
            </a:r>
            <a:r>
              <a:rPr lang="en-IN" sz="2000" b="1" u="sng" dirty="0">
                <a:solidFill>
                  <a:schemeClr val="tx2"/>
                </a:solidFill>
              </a:rPr>
              <a:t>Comparison with Existing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01579-7E60-7D75-154E-991BDC825A38}"/>
              </a:ext>
            </a:extLst>
          </p:cNvPr>
          <p:cNvSpPr txBox="1"/>
          <p:nvPr/>
        </p:nvSpPr>
        <p:spPr>
          <a:xfrm>
            <a:off x="329773" y="741134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❖</a:t>
            </a:r>
            <a:r>
              <a:rPr lang="en-IN" sz="2000" b="1" u="sng" dirty="0">
                <a:solidFill>
                  <a:schemeClr val="tx2"/>
                </a:solidFill>
              </a:rPr>
              <a:t> References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BCCB29-B2D4-B055-0A37-401BE60C4EEA}"/>
              </a:ext>
            </a:extLst>
          </p:cNvPr>
          <p:cNvSpPr txBox="1"/>
          <p:nvPr/>
        </p:nvSpPr>
        <p:spPr>
          <a:xfrm>
            <a:off x="155724" y="5721531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💻 </a:t>
            </a:r>
            <a:r>
              <a:rPr lang="en-IN" sz="2400" b="1" u="sng" dirty="0"/>
              <a:t>Live Demo 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D6E693-49E6-8A1C-163E-EA0D1ED62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955349"/>
              </p:ext>
            </p:extLst>
          </p:nvPr>
        </p:nvGraphicFramePr>
        <p:xfrm>
          <a:off x="5907024" y="1190353"/>
          <a:ext cx="5672836" cy="4634184"/>
        </p:xfrm>
        <a:graphic>
          <a:graphicData uri="http://schemas.openxmlformats.org/drawingml/2006/table">
            <a:tbl>
              <a:tblPr/>
              <a:tblGrid>
                <a:gridCol w="1883156">
                  <a:extLst>
                    <a:ext uri="{9D8B030D-6E8A-4147-A177-3AD203B41FA5}">
                      <a16:colId xmlns:a16="http://schemas.microsoft.com/office/drawing/2014/main" val="3659312355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64323185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914771197"/>
                    </a:ext>
                  </a:extLst>
                </a:gridCol>
              </a:tblGrid>
              <a:tr h="72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Geoshield</a:t>
                      </a:r>
                      <a:r>
                        <a:rPr lang="en-IN" dirty="0"/>
                        <a:t>(ours)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Existing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820601"/>
                  </a:ext>
                </a:extLst>
              </a:tr>
              <a:tr h="81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Wide-Area 3D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90315"/>
                  </a:ext>
                </a:extLst>
              </a:tr>
              <a:tr h="72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6359"/>
                  </a:ext>
                </a:extLst>
              </a:tr>
              <a:tr h="72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Crack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410994"/>
                  </a:ext>
                </a:extLst>
              </a:tr>
              <a:tr h="81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Alerts &amp; Route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091403"/>
                  </a:ext>
                </a:extLst>
              </a:tr>
              <a:tr h="81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Deployment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18498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B2761DE-3E47-81B2-DD0D-E6516E7CD9DC}"/>
              </a:ext>
            </a:extLst>
          </p:cNvPr>
          <p:cNvSpPr txBox="1"/>
          <p:nvPr/>
        </p:nvSpPr>
        <p:spPr>
          <a:xfrm>
            <a:off x="2196846" y="579377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11"/>
              </a:rPr>
              <a:t>SIH 2026 • AI Rockfall Early Warning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8077</TotalTime>
  <Words>850</Words>
  <Application>Microsoft Office PowerPoint</Application>
  <PresentationFormat>Widescreen</PresentationFormat>
  <Paragraphs>130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Cambria Math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shravani gawade</cp:lastModifiedBy>
  <cp:revision>154</cp:revision>
  <dcterms:created xsi:type="dcterms:W3CDTF">2013-12-12T18:46:50Z</dcterms:created>
  <dcterms:modified xsi:type="dcterms:W3CDTF">2026-08-20T08:38:28Z</dcterms:modified>
  <cp:category/>
</cp:coreProperties>
</file>